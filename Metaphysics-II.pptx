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26FFE3-E6F4-4B5B-B5A2-013F359D5F75}" v="13" dt="2024-12-19T05:12:23.039"/>
    <p1510:client id="{E97AE4AF-BEFB-4DA4-A1A0-5C1CB9CAA83C}" v="613" dt="2024-12-19T06:06:40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17" d="100"/>
          <a:sy n="117" d="100"/>
        </p:scale>
        <p:origin x="35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5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86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460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93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45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6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68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52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476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8407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16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2937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35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41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63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80720-10A3-48CB-BA12-8725799BB71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42DBD3C-16D1-4D20-81FF-1E7C101D9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96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C9187-48AE-5324-EFC5-0644E01F7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337" y="1265314"/>
            <a:ext cx="4299666" cy="3249131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Metaphysics II</a:t>
            </a:r>
            <a:br>
              <a:rPr lang="en-US" dirty="0"/>
            </a:br>
            <a:r>
              <a:rPr lang="en-US" dirty="0"/>
              <a:t>“</a:t>
            </a:r>
            <a:r>
              <a:rPr lang="en-US" b="1" dirty="0">
                <a:solidFill>
                  <a:schemeClr val="accent5"/>
                </a:solidFill>
              </a:rPr>
              <a:t>Of Space and Time”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76D2E-9B0A-73E0-448A-994EEE9BF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336" y="4514446"/>
            <a:ext cx="4299666" cy="87104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12/19/24</a:t>
            </a:r>
          </a:p>
        </p:txBody>
      </p:sp>
      <p:sp>
        <p:nvSpPr>
          <p:cNvPr id="2055" name="Isosceles Triangle 2054">
            <a:extLst>
              <a:ext uri="{FF2B5EF4-FFF2-40B4-BE49-F238E27FC236}">
                <a16:creationId xmlns:a16="http://schemas.microsoft.com/office/drawing/2014/main" id="{03D271DD-C9EA-4985-BA0C-037A88FA3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052" name="Picture 4" descr="The Philosophy of Space and Time">
            <a:extLst>
              <a:ext uri="{FF2B5EF4-FFF2-40B4-BE49-F238E27FC236}">
                <a16:creationId xmlns:a16="http://schemas.microsoft.com/office/drawing/2014/main" id="{FD4464AA-CE91-2944-DF00-9597F3CFC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303" y="1129174"/>
            <a:ext cx="28575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80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42200-0436-0116-5F0E-178A7ED5D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Re-cap on Metaphysics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0E883-E5B1-248D-908D-2B525701D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sz="3000" dirty="0"/>
              <a:t>A philosophy that investigates the nature of reality, including concepts like existence, objects, and their properties.</a:t>
            </a:r>
            <a:br>
              <a:rPr lang="en-US" sz="3000" dirty="0"/>
            </a:br>
            <a:br>
              <a:rPr lang="en-US" sz="3000" dirty="0"/>
            </a:br>
            <a:r>
              <a:rPr lang="en-US" sz="3200" dirty="0">
                <a:ea typeface="+mn-lt"/>
                <a:cs typeface="+mn-lt"/>
              </a:rPr>
              <a:t>"Metaphysics is a dark ocean without shores or a lighthouse, strewn with many a philosophic wreck."</a:t>
            </a:r>
            <a:endParaRPr lang="en-US" sz="3200" dirty="0"/>
          </a:p>
          <a:p>
            <a:pPr marL="0" indent="0">
              <a:buNone/>
            </a:pPr>
            <a:r>
              <a:rPr lang="en-US" sz="3000" dirty="0"/>
              <a:t>- Immanuel Kant </a:t>
            </a:r>
            <a:br>
              <a:rPr lang="en-US" sz="3000" dirty="0"/>
            </a:b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52240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B315-338C-5B12-31AB-84F47E45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Linear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47BA1-68B9-89FE-52E7-51358B8F6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Progresses from past to present to future, like a straight line</a:t>
            </a:r>
            <a:br>
              <a:rPr lang="en-US" dirty="0"/>
            </a:br>
            <a:r>
              <a:rPr lang="en-US" dirty="0"/>
              <a:t> (This is how most humans look at time)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71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2C8F7C-2A5F-20B7-5DE6-0A4EFEBF5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/>
              <a:t>Cyclical 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AE89B-9BC8-8E38-80BF-40D4CC34F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is viewed as repeating in cycles. </a:t>
            </a:r>
            <a:br>
              <a:rPr lang="en-US" dirty="0"/>
            </a:br>
            <a:r>
              <a:rPr lang="en-US" dirty="0"/>
              <a:t>Events don’t just move forward, they return in patterns or loops.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33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A8A01-8CED-0CFA-51A8-1796FE2F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B8599-DD61-C9A1-B959-1E368EAE9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000" dirty="0"/>
              <a:t>-Absolute Space: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</a:t>
            </a:r>
            <a:r>
              <a:rPr lang="en-US" sz="2300" dirty="0"/>
              <a:t>Space exists independently, like an empty container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-</a:t>
            </a:r>
            <a:r>
              <a:rPr lang="en-US" sz="3000" dirty="0"/>
              <a:t>Relational Space: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</a:t>
            </a:r>
            <a:r>
              <a:rPr lang="en-US" sz="2300" dirty="0"/>
              <a:t>Space exists only in relation to objects and their interactions.</a:t>
            </a:r>
            <a:br>
              <a:rPr lang="en-US" sz="2300" dirty="0"/>
            </a:br>
            <a:br>
              <a:rPr lang="en-US" sz="2300" dirty="0"/>
            </a:br>
            <a:r>
              <a:rPr lang="en-US" sz="2300" dirty="0"/>
              <a:t>-In other words: Space only exists because other things relate to it.</a:t>
            </a:r>
          </a:p>
        </p:txBody>
      </p:sp>
    </p:spTree>
    <p:extLst>
      <p:ext uri="{BB962C8B-B14F-4D97-AF65-F5344CB8AC3E}">
        <p14:creationId xmlns:p14="http://schemas.microsoft.com/office/powerpoint/2010/main" val="306797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EDAB3-48E6-9BEA-5800-0154FB5EF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Debate </a:t>
            </a:r>
            <a:r>
              <a:rPr lang="en-US" dirty="0">
                <a:solidFill>
                  <a:schemeClr val="accent5"/>
                </a:solidFill>
              </a:rPr>
              <a:t>on</a:t>
            </a:r>
            <a:r>
              <a:rPr lang="en-US" dirty="0"/>
              <a:t> Linear </a:t>
            </a:r>
            <a:r>
              <a:rPr lang="en-US" dirty="0">
                <a:solidFill>
                  <a:schemeClr val="accent5"/>
                </a:solidFill>
              </a:rPr>
              <a:t>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672DE-8319-1A30-2DE6-F033068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Is time a real, independent entity (as in linear time), or is it just a human construct based on our experiences?</a:t>
            </a:r>
          </a:p>
        </p:txBody>
      </p:sp>
    </p:spTree>
    <p:extLst>
      <p:ext uri="{BB962C8B-B14F-4D97-AF65-F5344CB8AC3E}">
        <p14:creationId xmlns:p14="http://schemas.microsoft.com/office/powerpoint/2010/main" val="2880972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9F70E-3EC0-9222-24F9-887715A7B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Absolute vs </a:t>
            </a:r>
            <a:r>
              <a:rPr lang="en-US" dirty="0">
                <a:solidFill>
                  <a:schemeClr val="accent5"/>
                </a:solidFill>
              </a:rPr>
              <a:t>Relational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B57FA-3F92-905E-857D-BB58780FB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Does space exist without objects</a:t>
            </a:r>
            <a:r>
              <a:rPr lang="en-US" sz="4000"/>
              <a:t>(absolute space)</a:t>
            </a:r>
            <a:r>
              <a:rPr lang="en-US" sz="4000" b="1"/>
              <a:t>, or is it just defined by the things in it?</a:t>
            </a:r>
            <a:r>
              <a:rPr lang="en-US" sz="4000"/>
              <a:t> (relational space)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2291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0F37-42E4-2AF0-D167-F5F3D955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123" y="609600"/>
            <a:ext cx="4924878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Effects </a:t>
            </a:r>
            <a:r>
              <a:rPr lang="en-US" sz="2800" dirty="0">
                <a:solidFill>
                  <a:schemeClr val="accent5"/>
                </a:solidFill>
              </a:rPr>
              <a:t>of </a:t>
            </a:r>
            <a:r>
              <a:rPr lang="en-US" sz="2800" dirty="0"/>
              <a:t>Holidays</a:t>
            </a:r>
            <a:r>
              <a:rPr lang="en-US" sz="2800" dirty="0">
                <a:solidFill>
                  <a:schemeClr val="accent5"/>
                </a:solidFill>
              </a:rPr>
              <a:t> on </a:t>
            </a:r>
            <a:r>
              <a:rPr lang="en-US" sz="2800" dirty="0"/>
              <a:t>Collective </a:t>
            </a:r>
            <a:r>
              <a:rPr lang="en-US" sz="2800" dirty="0">
                <a:solidFill>
                  <a:schemeClr val="accent5"/>
                </a:solidFill>
              </a:rPr>
              <a:t>Consciousness </a:t>
            </a:r>
            <a:br>
              <a:rPr lang="en-US" sz="2800" dirty="0">
                <a:solidFill>
                  <a:schemeClr val="accent5"/>
                </a:solidFill>
                <a:effectLst/>
                <a:latin typeface="-apple-system"/>
              </a:rPr>
            </a:br>
            <a:r>
              <a:rPr lang="en-US" sz="2800" dirty="0">
                <a:effectLst/>
                <a:latin typeface="-apple-system"/>
              </a:rPr>
              <a:t> 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01E7F7-B24B-BAE7-F32C-761D91CCA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56" y="804669"/>
            <a:ext cx="2774016" cy="509561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35039-775C-38F9-C8D8-D6596821C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123" y="2160590"/>
            <a:ext cx="4921876" cy="3739698"/>
          </a:xfrm>
        </p:spPr>
        <p:txBody>
          <a:bodyPr>
            <a:noAutofit/>
          </a:bodyPr>
          <a:lstStyle/>
          <a:p>
            <a:r>
              <a:rPr lang="en-US" sz="3000" dirty="0"/>
              <a:t>Does excessive rest reduce society's efficiency, or does it foster greater peace and contentment among the public?</a:t>
            </a:r>
          </a:p>
        </p:txBody>
      </p:sp>
    </p:spTree>
    <p:extLst>
      <p:ext uri="{BB962C8B-B14F-4D97-AF65-F5344CB8AC3E}">
        <p14:creationId xmlns:p14="http://schemas.microsoft.com/office/powerpoint/2010/main" val="36247388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4FCFC691A81F4B8D7F0F7EBC3C83F2" ma:contentTypeVersion="17" ma:contentTypeDescription="Create a new document." ma:contentTypeScope="" ma:versionID="d273e920c9a4eaabc274d3531aede5ca">
  <xsd:schema xmlns:xsd="http://www.w3.org/2001/XMLSchema" xmlns:xs="http://www.w3.org/2001/XMLSchema" xmlns:p="http://schemas.microsoft.com/office/2006/metadata/properties" xmlns:ns3="d50475f7-5dd4-452c-afb6-ad1f765c7646" xmlns:ns4="36787bb3-df24-4679-b04c-8ec50723ae62" targetNamespace="http://schemas.microsoft.com/office/2006/metadata/properties" ma:root="true" ma:fieldsID="d0ab4bfb9c91eb1cee7b3bd39fbce784" ns3:_="" ns4:_="">
    <xsd:import namespace="d50475f7-5dd4-452c-afb6-ad1f765c7646"/>
    <xsd:import namespace="36787bb3-df24-4679-b04c-8ec50723ae6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MediaServiceSearchProperties" minOccurs="0"/>
                <xsd:element ref="ns4:MediaServiceObjectDetectorVersions" minOccurs="0"/>
                <xsd:element ref="ns4:MediaServiceSystemTag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0475f7-5dd4-452c-afb6-ad1f765c764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787bb3-df24-4679-b04c-8ec50723ae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24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6787bb3-df24-4679-b04c-8ec50723ae62" xsi:nil="true"/>
  </documentManagement>
</p:properties>
</file>

<file path=customXml/itemProps1.xml><?xml version="1.0" encoding="utf-8"?>
<ds:datastoreItem xmlns:ds="http://schemas.openxmlformats.org/officeDocument/2006/customXml" ds:itemID="{39CF481E-42DD-4F52-BEDC-0364C5B435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0475f7-5dd4-452c-afb6-ad1f765c7646"/>
    <ds:schemaRef ds:uri="36787bb3-df24-4679-b04c-8ec50723ae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B445C7-8B4E-45C2-8519-CD80D30C6B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5C0F25-9FA4-4DCB-A1C3-9B884F9B7CD4}">
  <ds:schemaRefs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d50475f7-5dd4-452c-afb6-ad1f765c7646"/>
    <ds:schemaRef ds:uri="36787bb3-df24-4679-b04c-8ec50723ae62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248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-apple-system</vt:lpstr>
      <vt:lpstr>Arial</vt:lpstr>
      <vt:lpstr>Trebuchet MS</vt:lpstr>
      <vt:lpstr>Wingdings 3</vt:lpstr>
      <vt:lpstr>Facet</vt:lpstr>
      <vt:lpstr>Metaphysics II “Of Space and Time”</vt:lpstr>
      <vt:lpstr>Re-cap on Metaphysics</vt:lpstr>
      <vt:lpstr>Linear Time</vt:lpstr>
      <vt:lpstr>Cyclical Time</vt:lpstr>
      <vt:lpstr>Space</vt:lpstr>
      <vt:lpstr>Debate on Linear Time</vt:lpstr>
      <vt:lpstr>Absolute vs Relational</vt:lpstr>
      <vt:lpstr>Effects of Holidays on Collective Consciousness   </vt:lpstr>
    </vt:vector>
  </TitlesOfParts>
  <Company>Bellevue School District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Metaphysics II “Of Space and Time”</dc:title>
  <dc:creator>Loving, Aren C (Student)</dc:creator>
  <cp:lastModifiedBy>Ma, Lucas  (Student)</cp:lastModifiedBy>
  <cp:revision>2</cp:revision>
  <dcterms:created xsi:type="dcterms:W3CDTF">2024-12-19T05:02:01Z</dcterms:created>
  <dcterms:modified xsi:type="dcterms:W3CDTF">2026-04-16T04:46:16Z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0x010100CF4FCFC691A81F4B8D7F0F7EBC3C83F2</vt:lpwstr>
  </property>
</Properties>
</file>