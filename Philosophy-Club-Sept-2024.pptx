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64" r:id="rId5"/>
    <p:sldId id="265" r:id="rId6"/>
    <p:sldId id="267" r:id="rId7"/>
    <p:sldId id="269" r:id="rId8"/>
    <p:sldId id="272" r:id="rId9"/>
    <p:sldId id="270" r:id="rId10"/>
    <p:sldId id="273"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7" d="100"/>
          <a:sy n="77" d="100"/>
        </p:scale>
        <p:origin x="48" y="22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DDE01-B4F7-46B6-8B5E-466FB99787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E5DFC5-5E2A-F213-5A08-808D1E8A66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AB5F52-C7F0-B438-B98C-81A82C5D4347}"/>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5" name="Footer Placeholder 4">
            <a:extLst>
              <a:ext uri="{FF2B5EF4-FFF2-40B4-BE49-F238E27FC236}">
                <a16:creationId xmlns:a16="http://schemas.microsoft.com/office/drawing/2014/main" id="{EE1F2264-8FB7-A65A-86FB-50EF08BD9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66A3C3-1F09-1B41-C3B9-E61B3D3083EF}"/>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3422436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CB60D-E2DC-1B53-6553-ECC99D79A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B86F8E-9F5D-98B2-F8B0-B5A82D3E10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7471B-9996-2492-D991-7485F755129B}"/>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5" name="Footer Placeholder 4">
            <a:extLst>
              <a:ext uri="{FF2B5EF4-FFF2-40B4-BE49-F238E27FC236}">
                <a16:creationId xmlns:a16="http://schemas.microsoft.com/office/drawing/2014/main" id="{C4910A94-945D-5420-19B6-0A9ABE672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E869AF-76FA-7AFA-45EF-3E66BC346279}"/>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44351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0D43-F7B3-6BAB-364E-3305C6BCAE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F4AD1-3D35-2F63-E99E-7EBF665089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E775F7-C202-DF33-475F-06AD1E03A55A}"/>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5" name="Footer Placeholder 4">
            <a:extLst>
              <a:ext uri="{FF2B5EF4-FFF2-40B4-BE49-F238E27FC236}">
                <a16:creationId xmlns:a16="http://schemas.microsoft.com/office/drawing/2014/main" id="{DBF0069B-7135-4289-FA16-2B2AB5ABB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CAC4D-1DEE-59D5-1052-0D2B1586FA2B}"/>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2529795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9D037-0966-DBD0-852D-F359B42817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5EEACB-C3B9-74F9-CBFD-75F798C344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7EDDE5-5320-9E6E-5D3E-73A5A05E90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69A9CC-8B21-E85F-B52E-C32EBA113788}"/>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6" name="Footer Placeholder 5">
            <a:extLst>
              <a:ext uri="{FF2B5EF4-FFF2-40B4-BE49-F238E27FC236}">
                <a16:creationId xmlns:a16="http://schemas.microsoft.com/office/drawing/2014/main" id="{2CC918FB-A54C-A19D-C5B6-691DB6A262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334DCE-F860-2C21-EB5D-D21A06A722BB}"/>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249561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A347F-A975-AE4A-2A52-0BCBBEDCC0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97C3E9-2565-ED52-D792-311CF7B1A5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2631F3-E91A-2FBC-89E3-D257DF76F0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114806-DC7F-2F88-8609-BB787181B0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972F10-1AB4-5455-D867-6CE181B5AD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E9995C-6B88-BE06-692F-814FF1CF0DBE}"/>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8" name="Footer Placeholder 7">
            <a:extLst>
              <a:ext uri="{FF2B5EF4-FFF2-40B4-BE49-F238E27FC236}">
                <a16:creationId xmlns:a16="http://schemas.microsoft.com/office/drawing/2014/main" id="{91A66379-47A3-DDF0-8CF9-4992C49024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3AC33A-9213-7D0E-1955-47318F003025}"/>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405560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B9914-FAD1-F609-B4B2-B2339EB1CB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57183F-493A-FFC2-75C5-E458DFD34E17}"/>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4" name="Footer Placeholder 3">
            <a:extLst>
              <a:ext uri="{FF2B5EF4-FFF2-40B4-BE49-F238E27FC236}">
                <a16:creationId xmlns:a16="http://schemas.microsoft.com/office/drawing/2014/main" id="{5B8BD740-F33D-B9C1-6F51-D2A40545B9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DE43A9-7DBB-71B1-06E7-D7EBB3A5C340}"/>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3346167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DBBD6B-B439-9C58-BDB0-79F36B4179FF}"/>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3" name="Footer Placeholder 2">
            <a:extLst>
              <a:ext uri="{FF2B5EF4-FFF2-40B4-BE49-F238E27FC236}">
                <a16:creationId xmlns:a16="http://schemas.microsoft.com/office/drawing/2014/main" id="{91C2AF17-D94C-39F8-5532-82B2E9461B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072878-F833-76BB-AA51-7D33A1024D72}"/>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3162362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B252-8894-AD1B-C10D-C83575596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7520BB-1ECA-7184-F007-0FED8B37DD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91873A-369F-4FA9-13AB-DAC35650D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C86CDF-F525-BEF6-CB8F-E5A31B052ACD}"/>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6" name="Footer Placeholder 5">
            <a:extLst>
              <a:ext uri="{FF2B5EF4-FFF2-40B4-BE49-F238E27FC236}">
                <a16:creationId xmlns:a16="http://schemas.microsoft.com/office/drawing/2014/main" id="{380F5AEF-C5D7-2828-3AF6-42E964B931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F603FB-C9B0-7F17-11D1-701984EC45E7}"/>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2492401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7DE0-734D-819C-52A3-9A7D39CFF7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405661-386D-0467-C257-8F5D2D35BE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5B8C25-67F7-AEBF-DDDD-8629346C9B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4AB83B-5FDB-6ADE-678A-6388C3862321}"/>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6" name="Footer Placeholder 5">
            <a:extLst>
              <a:ext uri="{FF2B5EF4-FFF2-40B4-BE49-F238E27FC236}">
                <a16:creationId xmlns:a16="http://schemas.microsoft.com/office/drawing/2014/main" id="{A9BC4FE9-EE97-6511-BD9F-405EBB957B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5DEDBD-8366-DDC6-9C85-F659604D78A2}"/>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3665325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3E911-EBC5-A4CD-BEF1-E02C7BAC9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B3BC4B-42B0-C4A9-A2D0-32A2F1AE5D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33E312-9EDD-4CAF-E964-BE67943C33CC}"/>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5" name="Footer Placeholder 4">
            <a:extLst>
              <a:ext uri="{FF2B5EF4-FFF2-40B4-BE49-F238E27FC236}">
                <a16:creationId xmlns:a16="http://schemas.microsoft.com/office/drawing/2014/main" id="{C4DB41A4-FC74-D460-16F2-BF3F38D501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F7192-32D7-79BB-FA50-46EE71851765}"/>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2144127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B5A669-D8E8-2CBD-FBD3-E03285A2D4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F12E52-9B91-AF00-6005-65C189F584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A9C3F-2EFB-8F3D-C1C5-EE5625A14DAD}"/>
              </a:ext>
            </a:extLst>
          </p:cNvPr>
          <p:cNvSpPr>
            <a:spLocks noGrp="1"/>
          </p:cNvSpPr>
          <p:nvPr>
            <p:ph type="dt" sz="half" idx="10"/>
          </p:nvPr>
        </p:nvSpPr>
        <p:spPr/>
        <p:txBody>
          <a:bodyPr/>
          <a:lstStyle/>
          <a:p>
            <a:fld id="{7DB89A35-A5D6-465E-9D43-72F32EF75E18}" type="datetimeFigureOut">
              <a:rPr lang="en-US" smtClean="0"/>
              <a:t>4/16/2025</a:t>
            </a:fld>
            <a:endParaRPr lang="en-US"/>
          </a:p>
        </p:txBody>
      </p:sp>
      <p:sp>
        <p:nvSpPr>
          <p:cNvPr id="5" name="Footer Placeholder 4">
            <a:extLst>
              <a:ext uri="{FF2B5EF4-FFF2-40B4-BE49-F238E27FC236}">
                <a16:creationId xmlns:a16="http://schemas.microsoft.com/office/drawing/2014/main" id="{8B8B8725-5BCD-AF83-02EC-13F7B86BD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A0A9F-9042-5F10-46F7-5BCA41F2F521}"/>
              </a:ext>
            </a:extLst>
          </p:cNvPr>
          <p:cNvSpPr>
            <a:spLocks noGrp="1"/>
          </p:cNvSpPr>
          <p:nvPr>
            <p:ph type="sldNum" sz="quarter" idx="12"/>
          </p:nvPr>
        </p:nvSpPr>
        <p:spPr/>
        <p:txBody>
          <a:bodyPr/>
          <a:lstStyle/>
          <a:p>
            <a:fld id="{1C06EF85-762A-4376-83D4-9D37C45D78A5}" type="slidenum">
              <a:rPr lang="en-US" smtClean="0"/>
              <a:t>‹#›</a:t>
            </a:fld>
            <a:endParaRPr lang="en-US"/>
          </a:p>
        </p:txBody>
      </p:sp>
    </p:spTree>
    <p:extLst>
      <p:ext uri="{BB962C8B-B14F-4D97-AF65-F5344CB8AC3E}">
        <p14:creationId xmlns:p14="http://schemas.microsoft.com/office/powerpoint/2010/main" val="13315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63F5BF-A334-EDDE-0879-85D11582B8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612CF6-0140-49F3-0829-183B13376B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D3DD5-2B33-3466-792D-5872B9FF9B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89A35-A5D6-465E-9D43-72F32EF75E18}" type="datetimeFigureOut">
              <a:rPr lang="en-US" smtClean="0"/>
              <a:t>4/16/2025</a:t>
            </a:fld>
            <a:endParaRPr lang="en-US"/>
          </a:p>
        </p:txBody>
      </p:sp>
      <p:sp>
        <p:nvSpPr>
          <p:cNvPr id="5" name="Footer Placeholder 4">
            <a:extLst>
              <a:ext uri="{FF2B5EF4-FFF2-40B4-BE49-F238E27FC236}">
                <a16:creationId xmlns:a16="http://schemas.microsoft.com/office/drawing/2014/main" id="{EBF9A7CB-2EEA-BC72-44AD-61EE3D9DED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B8F9B9-5A38-53A4-9E41-863B738B61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06EF85-762A-4376-83D4-9D37C45D78A5}" type="slidenum">
              <a:rPr lang="en-US" smtClean="0"/>
              <a:t>‹#›</a:t>
            </a:fld>
            <a:endParaRPr lang="en-US"/>
          </a:p>
        </p:txBody>
      </p:sp>
    </p:spTree>
    <p:extLst>
      <p:ext uri="{BB962C8B-B14F-4D97-AF65-F5344CB8AC3E}">
        <p14:creationId xmlns:p14="http://schemas.microsoft.com/office/powerpoint/2010/main" val="2444477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6B92AF-4BE9-52DF-B6C9-B4C07CEA392A}"/>
              </a:ext>
            </a:extLst>
          </p:cNvPr>
          <p:cNvSpPr>
            <a:spLocks noGrp="1"/>
          </p:cNvSpPr>
          <p:nvPr>
            <p:ph type="ctrTitle"/>
          </p:nvPr>
        </p:nvSpPr>
        <p:spPr>
          <a:xfrm>
            <a:off x="643468" y="643467"/>
            <a:ext cx="4620584" cy="4567137"/>
          </a:xfrm>
        </p:spPr>
        <p:txBody>
          <a:bodyPr>
            <a:normAutofit/>
          </a:bodyPr>
          <a:lstStyle/>
          <a:p>
            <a:pPr algn="l"/>
            <a:r>
              <a:rPr lang="en-US" sz="4400"/>
              <a:t>Alan Watts</a:t>
            </a:r>
          </a:p>
        </p:txBody>
      </p:sp>
      <p:sp>
        <p:nvSpPr>
          <p:cNvPr id="3" name="Subtitle 2">
            <a:extLst>
              <a:ext uri="{FF2B5EF4-FFF2-40B4-BE49-F238E27FC236}">
                <a16:creationId xmlns:a16="http://schemas.microsoft.com/office/drawing/2014/main" id="{13E2C1AE-1326-B22D-5AED-E186E9B8B414}"/>
              </a:ext>
            </a:extLst>
          </p:cNvPr>
          <p:cNvSpPr>
            <a:spLocks noGrp="1"/>
          </p:cNvSpPr>
          <p:nvPr>
            <p:ph type="subTitle" idx="1"/>
          </p:nvPr>
        </p:nvSpPr>
        <p:spPr>
          <a:xfrm>
            <a:off x="643467" y="5277684"/>
            <a:ext cx="4620584" cy="775494"/>
          </a:xfrm>
        </p:spPr>
        <p:txBody>
          <a:bodyPr>
            <a:normAutofit/>
          </a:bodyPr>
          <a:lstStyle/>
          <a:p>
            <a:pPr algn="l"/>
            <a:r>
              <a:rPr lang="en-US" dirty="0"/>
              <a:t>English philosopher 1915-1973</a:t>
            </a:r>
          </a:p>
        </p:txBody>
      </p:sp>
      <p:pic>
        <p:nvPicPr>
          <p:cNvPr id="1026" name="Picture 2" descr="Image result for alan watts philosopher">
            <a:extLst>
              <a:ext uri="{FF2B5EF4-FFF2-40B4-BE49-F238E27FC236}">
                <a16:creationId xmlns:a16="http://schemas.microsoft.com/office/drawing/2014/main" id="{5305DCE8-AC2B-0CB2-8D33-3BCB92D9B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163" r="3411" b="-2"/>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026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54099-198C-6E6B-9F66-06DD701A80F9}"/>
              </a:ext>
            </a:extLst>
          </p:cNvPr>
          <p:cNvSpPr>
            <a:spLocks noGrp="1"/>
          </p:cNvSpPr>
          <p:nvPr>
            <p:ph type="title"/>
          </p:nvPr>
        </p:nvSpPr>
        <p:spPr>
          <a:xfrm>
            <a:off x="1043631" y="809898"/>
            <a:ext cx="9942716" cy="1554480"/>
          </a:xfrm>
        </p:spPr>
        <p:txBody>
          <a:bodyPr anchor="ctr">
            <a:normAutofit/>
          </a:bodyPr>
          <a:lstStyle/>
          <a:p>
            <a:r>
              <a:rPr lang="en-US" sz="4800"/>
              <a:t>Biography</a:t>
            </a:r>
          </a:p>
        </p:txBody>
      </p:sp>
      <p:sp>
        <p:nvSpPr>
          <p:cNvPr id="3" name="Content Placeholder 2">
            <a:extLst>
              <a:ext uri="{FF2B5EF4-FFF2-40B4-BE49-F238E27FC236}">
                <a16:creationId xmlns:a16="http://schemas.microsoft.com/office/drawing/2014/main" id="{0A222305-5F91-394F-614E-BFBA22B73A2E}"/>
              </a:ext>
            </a:extLst>
          </p:cNvPr>
          <p:cNvSpPr>
            <a:spLocks noGrp="1"/>
          </p:cNvSpPr>
          <p:nvPr>
            <p:ph idx="1"/>
          </p:nvPr>
        </p:nvSpPr>
        <p:spPr>
          <a:xfrm>
            <a:off x="1045028" y="3017522"/>
            <a:ext cx="9941319" cy="3124658"/>
          </a:xfrm>
        </p:spPr>
        <p:txBody>
          <a:bodyPr anchor="ctr">
            <a:normAutofit/>
          </a:bodyPr>
          <a:lstStyle/>
          <a:p>
            <a:pPr marL="0" indent="0">
              <a:buNone/>
            </a:pPr>
            <a:r>
              <a:rPr lang="en-US" sz="2200" dirty="0"/>
              <a:t>Born in England, he moved to the United States in his twenties, where he studied theology and became an Episcopal priest. However, he later left the church to explore a more personal and philosophical path. He spent much of his life lecturing, writing, and recording talks that challenged Western ideas about control, success, and the self.</a:t>
            </a:r>
          </a:p>
          <a:p>
            <a:pPr marL="0" indent="0">
              <a:buNone/>
            </a:pPr>
            <a:r>
              <a:rPr lang="en-US" sz="2200" dirty="0"/>
              <a:t>Rather than giving strict answers, Watts invited people to question their assumptions, embrace uncertainty, and understand life as something to be experienced, not conquered. His most famous works include </a:t>
            </a:r>
            <a:r>
              <a:rPr lang="en-US" sz="2200" i="1" dirty="0"/>
              <a:t>The Way of Zen</a:t>
            </a:r>
            <a:r>
              <a:rPr lang="en-US" sz="2200" dirty="0"/>
              <a:t>, </a:t>
            </a:r>
            <a:r>
              <a:rPr lang="en-US" sz="2200" i="1" dirty="0"/>
              <a:t>The Wisdom of Insecurity</a:t>
            </a:r>
            <a:r>
              <a:rPr lang="en-US" sz="2200" dirty="0"/>
              <a:t>, and </a:t>
            </a:r>
            <a:r>
              <a:rPr lang="en-US" sz="2200" i="1" dirty="0"/>
              <a:t>The Book: On the Taboo Against Knowing Who You Are</a:t>
            </a:r>
            <a:r>
              <a:rPr lang="en-US" sz="2200" dirty="0"/>
              <a:t>.</a:t>
            </a:r>
          </a:p>
          <a:p>
            <a:pPr marL="0" indent="0">
              <a:buNone/>
            </a:pPr>
            <a:endParaRPr lang="en-US" sz="22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198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14"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832A177-F38D-FE92-1ACA-C310E724F5A0}"/>
              </a:ext>
            </a:extLst>
          </p:cNvPr>
          <p:cNvSpPr>
            <a:spLocks noGrp="1"/>
          </p:cNvSpPr>
          <p:nvPr>
            <p:ph type="title"/>
          </p:nvPr>
        </p:nvSpPr>
        <p:spPr>
          <a:xfrm>
            <a:off x="789708" y="841664"/>
            <a:ext cx="4874661" cy="5156800"/>
          </a:xfrm>
        </p:spPr>
        <p:txBody>
          <a:bodyPr vert="horz" lIns="91440" tIns="45720" rIns="91440" bIns="45720" rtlCol="0" anchor="ctr">
            <a:normAutofit/>
          </a:bodyPr>
          <a:lstStyle/>
          <a:p>
            <a:r>
              <a:rPr lang="en-US" sz="4800" kern="1200">
                <a:solidFill>
                  <a:schemeClr val="bg1"/>
                </a:solidFill>
                <a:latin typeface="+mj-lt"/>
                <a:ea typeface="+mj-ea"/>
                <a:cs typeface="+mj-cs"/>
              </a:rPr>
              <a:t>Question</a:t>
            </a:r>
          </a:p>
        </p:txBody>
      </p:sp>
      <p:sp>
        <p:nvSpPr>
          <p:cNvPr id="4" name="Content Placeholder 3">
            <a:extLst>
              <a:ext uri="{FF2B5EF4-FFF2-40B4-BE49-F238E27FC236}">
                <a16:creationId xmlns:a16="http://schemas.microsoft.com/office/drawing/2014/main" id="{D1477054-04B8-7CCC-D386-8CB2175A494B}"/>
              </a:ext>
            </a:extLst>
          </p:cNvPr>
          <p:cNvSpPr>
            <a:spLocks noGrp="1"/>
          </p:cNvSpPr>
          <p:nvPr>
            <p:ph idx="1"/>
          </p:nvPr>
        </p:nvSpPr>
        <p:spPr>
          <a:xfrm>
            <a:off x="6534687" y="841664"/>
            <a:ext cx="4867605" cy="5156800"/>
          </a:xfrm>
        </p:spPr>
        <p:txBody>
          <a:bodyPr vert="horz" lIns="91440" tIns="45720" rIns="91440" bIns="45720" rtlCol="0" anchor="ctr">
            <a:normAutofit/>
          </a:bodyPr>
          <a:lstStyle/>
          <a:p>
            <a:pPr marL="0" indent="0">
              <a:buNone/>
            </a:pPr>
            <a:r>
              <a:rPr lang="en-US" sz="1600" dirty="0"/>
              <a:t>“</a:t>
            </a:r>
            <a:r>
              <a:rPr lang="en-US" sz="2000" dirty="0"/>
              <a:t>What if the more you try to force progress, the more you actually hinder it?”</a:t>
            </a:r>
            <a:br>
              <a:rPr lang="en-US" sz="2400" kern="1200" dirty="0">
                <a:solidFill>
                  <a:schemeClr val="tx2"/>
                </a:solidFill>
                <a:latin typeface="+mn-lt"/>
                <a:ea typeface="+mn-ea"/>
                <a:cs typeface="+mn-cs"/>
              </a:rPr>
            </a:br>
            <a:br>
              <a:rPr lang="en-US" sz="2400" kern="1200" dirty="0">
                <a:solidFill>
                  <a:schemeClr val="tx2"/>
                </a:solidFill>
                <a:latin typeface="+mn-lt"/>
                <a:ea typeface="+mn-ea"/>
                <a:cs typeface="+mn-cs"/>
              </a:rPr>
            </a:br>
            <a:endParaRPr lang="en-US" sz="2400" kern="1200" dirty="0">
              <a:solidFill>
                <a:schemeClr val="tx2"/>
              </a:solidFill>
              <a:latin typeface="+mn-lt"/>
              <a:ea typeface="+mn-ea"/>
              <a:cs typeface="+mn-cs"/>
            </a:endParaRPr>
          </a:p>
        </p:txBody>
      </p:sp>
    </p:spTree>
    <p:extLst>
      <p:ext uri="{BB962C8B-B14F-4D97-AF65-F5344CB8AC3E}">
        <p14:creationId xmlns:p14="http://schemas.microsoft.com/office/powerpoint/2010/main" val="385309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DA9303-A24F-2043-B76D-DF0020BB0F78}"/>
              </a:ext>
            </a:extLst>
          </p:cNvPr>
          <p:cNvSpPr>
            <a:spLocks noGrp="1"/>
          </p:cNvSpPr>
          <p:nvPr>
            <p:ph type="title"/>
          </p:nvPr>
        </p:nvSpPr>
        <p:spPr>
          <a:xfrm>
            <a:off x="1285240" y="1050595"/>
            <a:ext cx="8074815" cy="1618489"/>
          </a:xfrm>
        </p:spPr>
        <p:txBody>
          <a:bodyPr anchor="ctr">
            <a:normAutofit/>
          </a:bodyPr>
          <a:lstStyle/>
          <a:p>
            <a:r>
              <a:rPr lang="en-US" sz="7200"/>
              <a:t>“Happiness”</a:t>
            </a:r>
          </a:p>
        </p:txBody>
      </p:sp>
      <p:sp>
        <p:nvSpPr>
          <p:cNvPr id="3" name="Content Placeholder 2">
            <a:extLst>
              <a:ext uri="{FF2B5EF4-FFF2-40B4-BE49-F238E27FC236}">
                <a16:creationId xmlns:a16="http://schemas.microsoft.com/office/drawing/2014/main" id="{41B8ED89-2D0F-A61E-7064-D5FE96757E52}"/>
              </a:ext>
            </a:extLst>
          </p:cNvPr>
          <p:cNvSpPr>
            <a:spLocks noGrp="1"/>
          </p:cNvSpPr>
          <p:nvPr>
            <p:ph idx="1"/>
          </p:nvPr>
        </p:nvSpPr>
        <p:spPr>
          <a:xfrm>
            <a:off x="1285240" y="2969469"/>
            <a:ext cx="8074815" cy="2800395"/>
          </a:xfrm>
        </p:spPr>
        <p:txBody>
          <a:bodyPr anchor="t">
            <a:normAutofit/>
          </a:bodyPr>
          <a:lstStyle/>
          <a:p>
            <a:pPr marL="0" indent="0">
              <a:buNone/>
            </a:pPr>
            <a:r>
              <a:rPr lang="en-US" sz="2400" dirty="0"/>
              <a:t>You feel like crap because you failed your French test. To cope and release dopamine, you scroll through Instagram and feel even worse because </a:t>
            </a:r>
            <a:r>
              <a:rPr lang="en-US" sz="2400" i="1" dirty="0"/>
              <a:t>everyone else</a:t>
            </a:r>
            <a:r>
              <a:rPr lang="en-US" sz="2400" dirty="0"/>
              <a:t> seems to be having </a:t>
            </a:r>
            <a:r>
              <a:rPr lang="en-US" sz="2400" i="1" dirty="0"/>
              <a:t>such </a:t>
            </a:r>
            <a:r>
              <a:rPr lang="en-US" sz="2400" dirty="0"/>
              <a:t>a great time. Your friend goes on a cruise. And here you are, scrolling reels mindlessly while thinking why your life sucks and how it’s unfair your friend got a higher score than you and everyone else is happy.</a:t>
            </a:r>
          </a:p>
        </p:txBody>
      </p:sp>
    </p:spTree>
    <p:extLst>
      <p:ext uri="{BB962C8B-B14F-4D97-AF65-F5344CB8AC3E}">
        <p14:creationId xmlns:p14="http://schemas.microsoft.com/office/powerpoint/2010/main" val="938237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40F152-B2E0-630C-22B0-2E592E6370E7}"/>
              </a:ext>
            </a:extLst>
          </p:cNvPr>
          <p:cNvSpPr>
            <a:spLocks noGrp="1"/>
          </p:cNvSpPr>
          <p:nvPr>
            <p:ph type="title"/>
          </p:nvPr>
        </p:nvSpPr>
        <p:spPr>
          <a:xfrm>
            <a:off x="1282963" y="1238080"/>
            <a:ext cx="9849751" cy="1349671"/>
          </a:xfrm>
        </p:spPr>
        <p:txBody>
          <a:bodyPr anchor="b">
            <a:normAutofit/>
          </a:bodyPr>
          <a:lstStyle/>
          <a:p>
            <a:r>
              <a:rPr lang="en-US" sz="5400"/>
              <a:t>The Backwards Law</a:t>
            </a:r>
          </a:p>
        </p:txBody>
      </p:sp>
      <p:sp>
        <p:nvSpPr>
          <p:cNvPr id="3" name="Content Placeholder 2">
            <a:extLst>
              <a:ext uri="{FF2B5EF4-FFF2-40B4-BE49-F238E27FC236}">
                <a16:creationId xmlns:a16="http://schemas.microsoft.com/office/drawing/2014/main" id="{4785699B-8199-3F38-BA5E-0B02651900AC}"/>
              </a:ext>
            </a:extLst>
          </p:cNvPr>
          <p:cNvSpPr>
            <a:spLocks noGrp="1"/>
          </p:cNvSpPr>
          <p:nvPr>
            <p:ph idx="1"/>
          </p:nvPr>
        </p:nvSpPr>
        <p:spPr>
          <a:xfrm>
            <a:off x="1289304" y="2902913"/>
            <a:ext cx="9849751" cy="3032168"/>
          </a:xfrm>
        </p:spPr>
        <p:txBody>
          <a:bodyPr anchor="ctr">
            <a:normAutofit/>
          </a:bodyPr>
          <a:lstStyle/>
          <a:p>
            <a:pPr marL="0" indent="0">
              <a:buNone/>
            </a:pPr>
            <a:r>
              <a:rPr lang="en-US" sz="2000"/>
              <a:t>Alan Watts’ Backwards Law states that the more we pursue something directly, the less likely we are to find it. Happiness, peace, and success come </a:t>
            </a:r>
            <a:r>
              <a:rPr lang="en-US" sz="2000" b="1"/>
              <a:t>not from chasing them</a:t>
            </a:r>
            <a:r>
              <a:rPr lang="en-US" sz="2000"/>
              <a:t> but from </a:t>
            </a:r>
            <a:r>
              <a:rPr lang="en-US" sz="2000" b="1"/>
              <a:t>letting go of the obsession</a:t>
            </a:r>
            <a:r>
              <a:rPr lang="en-US" sz="2000"/>
              <a:t> with them.</a:t>
            </a:r>
            <a:br>
              <a:rPr lang="en-US" sz="2000"/>
            </a:br>
            <a:br>
              <a:rPr lang="en-US" sz="2000"/>
            </a:br>
            <a:r>
              <a:rPr lang="en-US" sz="2000"/>
              <a:t>The more you want to be rich, the more poor and unworthy you feel. The more desperately you want to be liked, the more times you think you’ve embarrassed yourself and others think you’re an idiot.</a:t>
            </a:r>
          </a:p>
        </p:txBody>
      </p:sp>
    </p:spTree>
    <p:extLst>
      <p:ext uri="{BB962C8B-B14F-4D97-AF65-F5344CB8AC3E}">
        <p14:creationId xmlns:p14="http://schemas.microsoft.com/office/powerpoint/2010/main" val="1532830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04E560-F0EB-1ED1-4947-CFB8AFA480E7}"/>
              </a:ext>
            </a:extLst>
          </p:cNvPr>
          <p:cNvSpPr>
            <a:spLocks noGrp="1"/>
          </p:cNvSpPr>
          <p:nvPr>
            <p:ph type="title"/>
          </p:nvPr>
        </p:nvSpPr>
        <p:spPr>
          <a:xfrm>
            <a:off x="1285240" y="1050595"/>
            <a:ext cx="8074815" cy="1618489"/>
          </a:xfrm>
        </p:spPr>
        <p:txBody>
          <a:bodyPr anchor="ctr">
            <a:normAutofit/>
          </a:bodyPr>
          <a:lstStyle/>
          <a:p>
            <a:r>
              <a:rPr lang="en-US" sz="7200" dirty="0"/>
              <a:t>Examples</a:t>
            </a:r>
          </a:p>
        </p:txBody>
      </p:sp>
      <p:sp>
        <p:nvSpPr>
          <p:cNvPr id="3" name="Content Placeholder 2">
            <a:extLst>
              <a:ext uri="{FF2B5EF4-FFF2-40B4-BE49-F238E27FC236}">
                <a16:creationId xmlns:a16="http://schemas.microsoft.com/office/drawing/2014/main" id="{F2136D88-A246-E033-B375-3C22BB396442}"/>
              </a:ext>
            </a:extLst>
          </p:cNvPr>
          <p:cNvSpPr>
            <a:spLocks noGrp="1"/>
          </p:cNvSpPr>
          <p:nvPr>
            <p:ph idx="1"/>
          </p:nvPr>
        </p:nvSpPr>
        <p:spPr>
          <a:xfrm>
            <a:off x="1285240" y="2969469"/>
            <a:ext cx="8074815" cy="2800395"/>
          </a:xfrm>
        </p:spPr>
        <p:txBody>
          <a:bodyPr anchor="t">
            <a:normAutofit/>
          </a:bodyPr>
          <a:lstStyle/>
          <a:p>
            <a:pPr marL="0" indent="0">
              <a:buNone/>
            </a:pPr>
            <a:r>
              <a:rPr lang="en-US" sz="2400" dirty="0"/>
              <a:t>You work tirelessly on a project, but exhaustion and stress lead to decreased productivity. When you take a break, you find that you’re able to explore new ideas and solutions effortlessly.</a:t>
            </a:r>
            <a:br>
              <a:rPr lang="en-US" sz="2400" dirty="0"/>
            </a:br>
            <a:br>
              <a:rPr lang="en-US" sz="2400" dirty="0"/>
            </a:br>
            <a:r>
              <a:rPr lang="en-US" sz="2400" dirty="0"/>
              <a:t>The person that cares the least about a test tends to score better because they are not obsessed with getting a full score and absorbs information with an open mindset.</a:t>
            </a:r>
          </a:p>
        </p:txBody>
      </p:sp>
    </p:spTree>
    <p:extLst>
      <p:ext uri="{BB962C8B-B14F-4D97-AF65-F5344CB8AC3E}">
        <p14:creationId xmlns:p14="http://schemas.microsoft.com/office/powerpoint/2010/main" val="782283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8D5254-ADC1-EFF9-BF3F-B25F0E7D8DF8}"/>
              </a:ext>
            </a:extLst>
          </p:cNvPr>
          <p:cNvSpPr>
            <a:spLocks noGrp="1"/>
          </p:cNvSpPr>
          <p:nvPr>
            <p:ph type="title"/>
          </p:nvPr>
        </p:nvSpPr>
        <p:spPr>
          <a:xfrm>
            <a:off x="1043631" y="809898"/>
            <a:ext cx="9942716" cy="1554480"/>
          </a:xfrm>
        </p:spPr>
        <p:txBody>
          <a:bodyPr anchor="ctr">
            <a:normAutofit/>
          </a:bodyPr>
          <a:lstStyle/>
          <a:p>
            <a:r>
              <a:rPr lang="en-US" sz="4800"/>
              <a:t>The Real Way to Success</a:t>
            </a:r>
          </a:p>
        </p:txBody>
      </p:sp>
      <p:sp>
        <p:nvSpPr>
          <p:cNvPr id="3" name="Content Placeholder 2">
            <a:extLst>
              <a:ext uri="{FF2B5EF4-FFF2-40B4-BE49-F238E27FC236}">
                <a16:creationId xmlns:a16="http://schemas.microsoft.com/office/drawing/2014/main" id="{2C391DC3-204F-59AC-ADE6-52D4BAFF4F74}"/>
              </a:ext>
            </a:extLst>
          </p:cNvPr>
          <p:cNvSpPr>
            <a:spLocks noGrp="1"/>
          </p:cNvSpPr>
          <p:nvPr>
            <p:ph idx="1"/>
          </p:nvPr>
        </p:nvSpPr>
        <p:spPr>
          <a:xfrm>
            <a:off x="1045028" y="3017522"/>
            <a:ext cx="9941319" cy="3124658"/>
          </a:xfrm>
        </p:spPr>
        <p:txBody>
          <a:bodyPr anchor="ctr">
            <a:normAutofit/>
          </a:bodyPr>
          <a:lstStyle/>
          <a:p>
            <a:pPr marL="0" indent="0">
              <a:buNone/>
            </a:pPr>
            <a:r>
              <a:rPr lang="en-US" sz="2400" dirty="0"/>
              <a:t>The law works in reverse.</a:t>
            </a:r>
            <a:br>
              <a:rPr lang="en-US" sz="2400" dirty="0"/>
            </a:br>
            <a:r>
              <a:rPr lang="en-US" sz="2400" dirty="0"/>
              <a:t>If pursuing the positive is a negative, pursuing a negative is a positive. </a:t>
            </a:r>
          </a:p>
          <a:p>
            <a:pPr marL="0" indent="0">
              <a:buNone/>
            </a:pPr>
            <a:endParaRPr lang="en-US" sz="2400" dirty="0"/>
          </a:p>
          <a:p>
            <a:pPr marL="0" indent="0">
              <a:buNone/>
            </a:pPr>
            <a:r>
              <a:rPr lang="en-US" sz="2400" dirty="0"/>
              <a:t>Everything worthwhile in life is won by surmounting the associated negative experience. </a:t>
            </a:r>
            <a:br>
              <a:rPr lang="en-US" sz="2400" dirty="0"/>
            </a:br>
            <a:r>
              <a:rPr lang="en-US" sz="2400" dirty="0"/>
              <a:t>Any attempt to escape </a:t>
            </a:r>
            <a:r>
              <a:rPr lang="en-US" sz="2400" i="1" dirty="0"/>
              <a:t>pain </a:t>
            </a:r>
            <a:r>
              <a:rPr lang="en-US" sz="2400" dirty="0"/>
              <a:t>will backfire. The avoidance of suffering </a:t>
            </a:r>
            <a:r>
              <a:rPr lang="en-US" sz="2400" i="1" dirty="0"/>
              <a:t>is </a:t>
            </a:r>
            <a:r>
              <a:rPr lang="en-US" sz="2400" dirty="0"/>
              <a:t>a form of suffering. The avoidance of struggle is a struggle. The denial of failure is a failure.</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1724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70E420-77F0-5906-F00B-2AB03D089089}"/>
              </a:ext>
            </a:extLst>
          </p:cNvPr>
          <p:cNvSpPr>
            <a:spLocks noGrp="1"/>
          </p:cNvSpPr>
          <p:nvPr>
            <p:ph type="title"/>
          </p:nvPr>
        </p:nvSpPr>
        <p:spPr>
          <a:xfrm>
            <a:off x="1043631" y="809898"/>
            <a:ext cx="9942716" cy="1554480"/>
          </a:xfrm>
        </p:spPr>
        <p:txBody>
          <a:bodyPr anchor="ctr">
            <a:normAutofit/>
          </a:bodyPr>
          <a:lstStyle/>
          <a:p>
            <a:r>
              <a:rPr lang="en-US" sz="4800"/>
              <a:t>Watt’s Take On Admittance</a:t>
            </a:r>
          </a:p>
        </p:txBody>
      </p:sp>
      <p:sp>
        <p:nvSpPr>
          <p:cNvPr id="3" name="Content Placeholder 2">
            <a:extLst>
              <a:ext uri="{FF2B5EF4-FFF2-40B4-BE49-F238E27FC236}">
                <a16:creationId xmlns:a16="http://schemas.microsoft.com/office/drawing/2014/main" id="{23721C2A-D6FD-8916-1A20-B41B16927819}"/>
              </a:ext>
            </a:extLst>
          </p:cNvPr>
          <p:cNvSpPr>
            <a:spLocks noGrp="1"/>
          </p:cNvSpPr>
          <p:nvPr>
            <p:ph idx="1"/>
          </p:nvPr>
        </p:nvSpPr>
        <p:spPr>
          <a:xfrm>
            <a:off x="1045028" y="3017522"/>
            <a:ext cx="9941319" cy="3124658"/>
          </a:xfrm>
        </p:spPr>
        <p:txBody>
          <a:bodyPr anchor="ctr">
            <a:normAutofit/>
          </a:bodyPr>
          <a:lstStyle/>
          <a:p>
            <a:pPr marL="0" indent="0">
              <a:buNone/>
            </a:pPr>
            <a:r>
              <a:rPr lang="en-US" sz="2400" dirty="0"/>
              <a:t>Watts often said that trying to maintain a perfect image or constantly prove your worth is a kind of </a:t>
            </a:r>
            <a:r>
              <a:rPr lang="en-US" sz="2400" b="1" dirty="0"/>
              <a:t>self-deception</a:t>
            </a:r>
            <a:r>
              <a:rPr lang="en-US" sz="2400" dirty="0"/>
              <a:t>. The more you try to hide your shortcomings, the more you suffer. By </a:t>
            </a:r>
            <a:r>
              <a:rPr lang="en-US" sz="2400" b="1" dirty="0"/>
              <a:t>admitting your flaws</a:t>
            </a:r>
            <a:r>
              <a:rPr lang="en-US" sz="2400" dirty="0"/>
              <a:t>, you free yourself from that false identity.</a:t>
            </a:r>
            <a:br>
              <a:rPr lang="en-US" sz="2400" dirty="0"/>
            </a:br>
            <a:br>
              <a:rPr lang="en-US" sz="2400" dirty="0"/>
            </a:br>
            <a:r>
              <a:rPr lang="en-US" sz="2400" dirty="0"/>
              <a:t>“Man suffers only because he takes seriously what the gods made for fun.”</a:t>
            </a:r>
            <a:br>
              <a:rPr lang="en-US" sz="2400" dirty="0"/>
            </a:br>
            <a:r>
              <a:rPr lang="en-US" sz="2400" dirty="0"/>
              <a:t>– Alan Watts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291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250DC2-7B1E-8E98-2CDD-3F47CBF12C01}"/>
              </a:ext>
            </a:extLst>
          </p:cNvPr>
          <p:cNvSpPr>
            <a:spLocks noGrp="1"/>
          </p:cNvSpPr>
          <p:nvPr>
            <p:ph type="title"/>
          </p:nvPr>
        </p:nvSpPr>
        <p:spPr>
          <a:xfrm>
            <a:off x="1043631" y="809898"/>
            <a:ext cx="9942716" cy="1554480"/>
          </a:xfrm>
        </p:spPr>
        <p:txBody>
          <a:bodyPr anchor="ctr">
            <a:normAutofit/>
          </a:bodyPr>
          <a:lstStyle/>
          <a:p>
            <a:r>
              <a:rPr lang="en-US" sz="4800"/>
              <a:t>Final Thought</a:t>
            </a:r>
          </a:p>
        </p:txBody>
      </p:sp>
      <p:sp>
        <p:nvSpPr>
          <p:cNvPr id="3" name="Content Placeholder 2">
            <a:extLst>
              <a:ext uri="{FF2B5EF4-FFF2-40B4-BE49-F238E27FC236}">
                <a16:creationId xmlns:a16="http://schemas.microsoft.com/office/drawing/2014/main" id="{31F795E6-91F9-422A-EF02-468A25C45B12}"/>
              </a:ext>
            </a:extLst>
          </p:cNvPr>
          <p:cNvSpPr>
            <a:spLocks noGrp="1"/>
          </p:cNvSpPr>
          <p:nvPr>
            <p:ph idx="1"/>
          </p:nvPr>
        </p:nvSpPr>
        <p:spPr>
          <a:xfrm>
            <a:off x="1045028" y="3017522"/>
            <a:ext cx="9941319" cy="3124658"/>
          </a:xfrm>
        </p:spPr>
        <p:txBody>
          <a:bodyPr anchor="ctr">
            <a:normAutofit/>
          </a:bodyPr>
          <a:lstStyle/>
          <a:p>
            <a:pPr marL="0" indent="0">
              <a:buNone/>
            </a:pPr>
            <a:r>
              <a:rPr lang="en-US" sz="2400"/>
              <a:t>True growth comes when we stop forcing it. Letting go of the need for constant achievement, embracing failure, and accepting pain as part of life leads to greater peace, happiness, and success.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415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45FEC3-DBFC-8953-4990-C1E725265D1B}"/>
              </a:ext>
            </a:extLst>
          </p:cNvPr>
          <p:cNvSpPr>
            <a:spLocks noGrp="1"/>
          </p:cNvSpPr>
          <p:nvPr>
            <p:ph type="title"/>
          </p:nvPr>
        </p:nvSpPr>
        <p:spPr>
          <a:xfrm>
            <a:off x="1282963" y="1238080"/>
            <a:ext cx="9849751" cy="1349671"/>
          </a:xfrm>
        </p:spPr>
        <p:txBody>
          <a:bodyPr anchor="b">
            <a:normAutofit/>
          </a:bodyPr>
          <a:lstStyle/>
          <a:p>
            <a:r>
              <a:rPr lang="en-US" sz="5400"/>
              <a:t>Extra Quotes</a:t>
            </a:r>
          </a:p>
        </p:txBody>
      </p:sp>
      <p:sp>
        <p:nvSpPr>
          <p:cNvPr id="3" name="Content Placeholder 2">
            <a:extLst>
              <a:ext uri="{FF2B5EF4-FFF2-40B4-BE49-F238E27FC236}">
                <a16:creationId xmlns:a16="http://schemas.microsoft.com/office/drawing/2014/main" id="{15FA3A9C-6C8F-5390-E6AE-75B7225E0F58}"/>
              </a:ext>
            </a:extLst>
          </p:cNvPr>
          <p:cNvSpPr>
            <a:spLocks noGrp="1"/>
          </p:cNvSpPr>
          <p:nvPr>
            <p:ph idx="1"/>
          </p:nvPr>
        </p:nvSpPr>
        <p:spPr>
          <a:xfrm>
            <a:off x="1289304" y="2902913"/>
            <a:ext cx="9849751" cy="3032168"/>
          </a:xfrm>
        </p:spPr>
        <p:txBody>
          <a:bodyPr anchor="ctr">
            <a:normAutofit/>
          </a:bodyPr>
          <a:lstStyle/>
          <a:p>
            <a:pPr marL="0" indent="0">
              <a:buNone/>
            </a:pPr>
            <a:r>
              <a:rPr lang="en-US" sz="1700"/>
              <a:t>“The more you try to control something, the more it controls you. Free yourself and let things take their own natural course.”</a:t>
            </a:r>
            <a:br>
              <a:rPr lang="en-US" sz="1700"/>
            </a:br>
            <a:endParaRPr lang="en-US" sz="1700"/>
          </a:p>
          <a:p>
            <a:pPr marL="0" indent="0">
              <a:buNone/>
            </a:pPr>
            <a:r>
              <a:rPr lang="en-US" sz="1700"/>
              <a:t>“When you try to stay on the surface of the water, you sink; but when you try to sink, you float.”</a:t>
            </a:r>
          </a:p>
          <a:p>
            <a:pPr marL="0" indent="0">
              <a:buNone/>
            </a:pPr>
            <a:endParaRPr lang="en-US" sz="1700"/>
          </a:p>
          <a:p>
            <a:pPr marL="0" indent="0">
              <a:buNone/>
            </a:pPr>
            <a:r>
              <a:rPr lang="en-US" sz="1700"/>
              <a:t>“The meaning of life is just to be alive. It is so plain and so obvious and so simple. And yet, everybody rushes around in a great panic as if it were necessary to achieve something beyond themselves.”</a:t>
            </a:r>
            <a:br>
              <a:rPr lang="en-US" sz="1700"/>
            </a:br>
            <a:endParaRPr lang="en-US" sz="1700"/>
          </a:p>
        </p:txBody>
      </p:sp>
    </p:spTree>
    <p:extLst>
      <p:ext uri="{BB962C8B-B14F-4D97-AF65-F5344CB8AC3E}">
        <p14:creationId xmlns:p14="http://schemas.microsoft.com/office/powerpoint/2010/main" val="3864350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DDE21C-C7CC-C274-4220-E8ABCD7935FB}"/>
              </a:ext>
            </a:extLst>
          </p:cNvPr>
          <p:cNvSpPr>
            <a:spLocks noGrp="1"/>
          </p:cNvSpPr>
          <p:nvPr>
            <p:ph type="title"/>
          </p:nvPr>
        </p:nvSpPr>
        <p:spPr>
          <a:xfrm>
            <a:off x="1524000" y="1248587"/>
            <a:ext cx="9144000" cy="2387600"/>
          </a:xfrm>
        </p:spPr>
        <p:txBody>
          <a:bodyPr vert="horz" lIns="91440" tIns="45720" rIns="91440" bIns="45720" rtlCol="0" anchor="b">
            <a:normAutofit/>
          </a:bodyPr>
          <a:lstStyle/>
          <a:p>
            <a:pPr algn="ctr"/>
            <a:r>
              <a:rPr lang="en-US" sz="6400" kern="1200" dirty="0">
                <a:solidFill>
                  <a:schemeClr val="tx1"/>
                </a:solidFill>
                <a:latin typeface="+mj-lt"/>
                <a:ea typeface="+mj-ea"/>
                <a:cs typeface="+mj-cs"/>
              </a:rPr>
              <a:t>Thank you</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343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676</Words>
  <Application>Microsoft Office PowerPoint</Application>
  <PresentationFormat>Widescreen</PresentationFormat>
  <Paragraphs>27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Alan Watts</vt:lpstr>
      <vt:lpstr>Biography</vt:lpstr>
      <vt:lpstr>Question</vt:lpstr>
      <vt:lpstr>“Happiness”</vt:lpstr>
      <vt:lpstr>The Backwards Law</vt:lpstr>
      <vt:lpstr>Examples</vt:lpstr>
      <vt:lpstr>The Real Way to Success</vt:lpstr>
      <vt:lpstr>Watt’s Take On Admittance</vt:lpstr>
      <vt:lpstr>Final Thought</vt:lpstr>
      <vt:lpstr>Extra Quotes</vt:lpstr>
      <vt:lpstr>Thank you</vt:lpstr>
    </vt:vector>
  </TitlesOfParts>
  <Company>Bellevue School District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Lou, Hennry  (Student)</dc:creator>
  <cp:lastModifiedBy>Lou, Hennry  (Student)</cp:lastModifiedBy>
  <cp:revision>1</cp:revision>
  <dcterms:created xsi:type="dcterms:W3CDTF">2025-04-17T05:29:47Z</dcterms:created>
  <dcterms:modified xsi:type="dcterms:W3CDTF">2025-04-17T06:24:12Z</dcterms:modified>
</cp:coreProperties>
</file>